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cedb9ed744848" /><Relationship Type="http://schemas.openxmlformats.org/officeDocument/2006/relationships/extended-properties" Target="/docProps/app.xml" Id="Ra622a029e45949ae" /><Relationship Type="http://schemas.openxmlformats.org/officeDocument/2006/relationships/officeDocument" Target="/ppt/presentation.xml" Id="R1b7e99ac946f44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a2e6a1e614d09"/>
  </p:sldMasterIdLst>
  <p:notesMasterIdLst>
    <p:notesMasterId xmlns:r="http://schemas.openxmlformats.org/officeDocument/2006/relationships" r:id="R356e460d784d479e"/>
  </p:notesMasterIdLst>
  <p:sldIdLst>
    <p:sldId xmlns:r="http://schemas.openxmlformats.org/officeDocument/2006/relationships" id="256" r:id="Ra50d0a344c264113"/>
    <p:sldId xmlns:r="http://schemas.openxmlformats.org/officeDocument/2006/relationships" id="257" r:id="Re23f1ba1f7354434"/>
    <p:sldId xmlns:r="http://schemas.openxmlformats.org/officeDocument/2006/relationships" id="258" r:id="Rbfb51f8397cc4173"/>
    <p:sldId xmlns:r="http://schemas.openxmlformats.org/officeDocument/2006/relationships" id="259" r:id="Reedbb7aacce24339"/>
    <p:sldId xmlns:r="http://schemas.openxmlformats.org/officeDocument/2006/relationships" id="260" r:id="R3963487cbbea4b9e"/>
    <p:sldId xmlns:r="http://schemas.openxmlformats.org/officeDocument/2006/relationships" id="261" r:id="R47d13e1527464648"/>
    <p:sldId xmlns:r="http://schemas.openxmlformats.org/officeDocument/2006/relationships" id="262" r:id="Rb3f09ae779ce4c18"/>
    <p:sldId xmlns:r="http://schemas.openxmlformats.org/officeDocument/2006/relationships" id="263" r:id="Rbca3cd07e2804ab2"/>
    <p:sldId xmlns:r="http://schemas.openxmlformats.org/officeDocument/2006/relationships" id="264" r:id="R505e56fa2bec4ea2"/>
    <p:sldId xmlns:r="http://schemas.openxmlformats.org/officeDocument/2006/relationships" id="265" r:id="R29c53d3cebdb44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8e076cc6149b2" /><Relationship Type="http://schemas.openxmlformats.org/officeDocument/2006/relationships/slideMaster" Target="/ppt/slideMasters/slideMaster1.xml" Id="Rf43a2e6a1e614d09" /><Relationship Type="http://schemas.openxmlformats.org/officeDocument/2006/relationships/notesMaster" Target="/ppt/notesMasters/notesMaster1.xml" Id="R356e460d784d479e" /><Relationship Type="http://schemas.openxmlformats.org/officeDocument/2006/relationships/presProps" Target="/ppt/presProps.xml" Id="Rc98e1d646fc04b0d" /><Relationship Type="http://schemas.openxmlformats.org/officeDocument/2006/relationships/tableStyles" Target="/ppt/tableStyles.xml" Id="R901234b6818740fb" /><Relationship Type="http://schemas.openxmlformats.org/officeDocument/2006/relationships/slide" Target="/ppt/slides/slide1.xml" Id="Ra50d0a344c264113" /><Relationship Type="http://schemas.openxmlformats.org/officeDocument/2006/relationships/slide" Target="/ppt/slides/slide2.xml" Id="Re23f1ba1f7354434" /><Relationship Type="http://schemas.openxmlformats.org/officeDocument/2006/relationships/slide" Target="/ppt/slides/slide3.xml" Id="Rbfb51f8397cc4173" /><Relationship Type="http://schemas.openxmlformats.org/officeDocument/2006/relationships/slide" Target="/ppt/slides/slide4.xml" Id="Reedbb7aacce24339" /><Relationship Type="http://schemas.openxmlformats.org/officeDocument/2006/relationships/slide" Target="/ppt/slides/slide5.xml" Id="R3963487cbbea4b9e" /><Relationship Type="http://schemas.openxmlformats.org/officeDocument/2006/relationships/slide" Target="/ppt/slides/slide6.xml" Id="R47d13e1527464648" /><Relationship Type="http://schemas.openxmlformats.org/officeDocument/2006/relationships/slide" Target="/ppt/slides/slide7.xml" Id="Rb3f09ae779ce4c18" /><Relationship Type="http://schemas.openxmlformats.org/officeDocument/2006/relationships/slide" Target="/ppt/slides/slide8.xml" Id="Rbca3cd07e2804ab2" /><Relationship Type="http://schemas.openxmlformats.org/officeDocument/2006/relationships/slide" Target="/ppt/slides/slide9.xml" Id="R505e56fa2bec4ea2" /><Relationship Type="http://schemas.openxmlformats.org/officeDocument/2006/relationships/slide" Target="/ppt/slides/slide10.xml" Id="R29c53d3cebdb44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75676b15c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d70dfe8014851" /><Relationship Type="http://schemas.openxmlformats.org/officeDocument/2006/relationships/notesMaster" Target="/ppt/notesMasters/notesMaster1.xml" Id="Rb07e20885a9b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d2e880b104ab7" /><Relationship Type="http://schemas.openxmlformats.org/officeDocument/2006/relationships/notesMaster" Target="/ppt/notesMasters/notesMaster1.xml" Id="R2826c1864d604a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820a22049480c" /><Relationship Type="http://schemas.openxmlformats.org/officeDocument/2006/relationships/notesMaster" Target="/ppt/notesMasters/notesMaster1.xml" Id="R175624b64fd2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3da910cd14440" /><Relationship Type="http://schemas.openxmlformats.org/officeDocument/2006/relationships/notesMaster" Target="/ppt/notesMasters/notesMaster1.xml" Id="R5a4c2879d3f3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ba8125e1104949" /><Relationship Type="http://schemas.openxmlformats.org/officeDocument/2006/relationships/notesMaster" Target="/ppt/notesMasters/notesMaster1.xml" Id="Rfec9a837f71b45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8d3827deec4172" /><Relationship Type="http://schemas.openxmlformats.org/officeDocument/2006/relationships/notesMaster" Target="/ppt/notesMasters/notesMaster1.xml" Id="R3e471d95e5c940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8a06289eb4e83" /><Relationship Type="http://schemas.openxmlformats.org/officeDocument/2006/relationships/notesMaster" Target="/ppt/notesMasters/notesMaster1.xml" Id="R0fea14da507445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430fafdd31461e" /><Relationship Type="http://schemas.openxmlformats.org/officeDocument/2006/relationships/notesMaster" Target="/ppt/notesMasters/notesMaster1.xml" Id="Ra16c3180ad7844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0c4a0e4fc4a7c" /><Relationship Type="http://schemas.openxmlformats.org/officeDocument/2006/relationships/notesMaster" Target="/ppt/notesMasters/notesMaster1.xml" Id="Rb2b8eb088613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1ecacd8b3f4310" /><Relationship Type="http://schemas.openxmlformats.org/officeDocument/2006/relationships/notesMaster" Target="/ppt/notesMasters/notesMaster1.xml" Id="Re36cf06e8cb645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4d3bc4c8047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10f0952674639" /><Relationship Type="http://schemas.openxmlformats.org/officeDocument/2006/relationships/slideLayout" Target="/ppt/slideLayouts/slideLayout1.xml" Id="Rc1312a85784441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12a85784441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7d4f003e645a5" /><Relationship Type="http://schemas.openxmlformats.org/officeDocument/2006/relationships/notesSlide" Target="/ppt/notesSlides/notesSlide1.xml" Id="R1ccaffd785c4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05b8309a64f71" /><Relationship Type="http://schemas.openxmlformats.org/officeDocument/2006/relationships/notesSlide" Target="/ppt/notesSlides/notesSlide2.xml" Id="R48c94c3eef25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d4a6881bc4aa1" /><Relationship Type="http://schemas.openxmlformats.org/officeDocument/2006/relationships/chart" Target="/ppt/slides/charts/chart1.xml" Id="Rdb4b23481f834159" /><Relationship Type="http://schemas.openxmlformats.org/officeDocument/2006/relationships/notesSlide" Target="/ppt/notesSlides/notesSlide3.xml" Id="R3ff38c5f48a2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e547d0b4457f" /><Relationship Type="http://schemas.openxmlformats.org/officeDocument/2006/relationships/notesSlide" Target="/ppt/notesSlides/notesSlide4.xml" Id="R510eabc2f64d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b073dd1e54063" /><Relationship Type="http://schemas.openxmlformats.org/officeDocument/2006/relationships/notesSlide" Target="/ppt/notesSlides/notesSlide5.xml" Id="Rc17cdf1cbbd74e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af042197646b8" /><Relationship Type="http://schemas.openxmlformats.org/officeDocument/2006/relationships/notesSlide" Target="/ppt/notesSlides/notesSlide6.xml" Id="R1a938e097b6946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060cdfc404179" /><Relationship Type="http://schemas.openxmlformats.org/officeDocument/2006/relationships/chart" Target="/ppt/slides/charts/chart2.xml" Id="R8eec5238055d49b1" /><Relationship Type="http://schemas.openxmlformats.org/officeDocument/2006/relationships/notesSlide" Target="/ppt/notesSlides/notesSlide7.xml" Id="R879ffcf329504b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1b0e0c12242d1" /><Relationship Type="http://schemas.openxmlformats.org/officeDocument/2006/relationships/notesSlide" Target="/ppt/notesSlides/notesSlide8.xml" Id="R6b6d4bfc7ae148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8658673f4220" /><Relationship Type="http://schemas.openxmlformats.org/officeDocument/2006/relationships/notesSlide" Target="/ppt/notesSlides/notesSlide9.xml" Id="Rd267b19ae032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fd9b8619d447a" /><Relationship Type="http://schemas.openxmlformats.org/officeDocument/2006/relationships/notesSlide" Target="/ppt/notesSlides/notesSlide10.xml" Id="R78218160df604a4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NDVI</c:v>
          </c:tx>
          <c:spPr>
            <a:solidFill xmlns:a="http://schemas.openxmlformats.org/drawingml/2006/main">
              <a:srgbClr val="2F9E44"/>
            </a:solidFill>
          </c:spPr>
          <c:marker>
            <c:symbol val="none"/>
          </c:marker>
          <c:dLbls/>
          <c:cat>
            <c:numLit>
              <c:formatCode>General</c:formatCode>
              <c:ptCount val="6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</c:numLit>
          </c:cat>
          <c:val>
            <c:numLit>
              <c:formatCode>General</c:formatCode>
              <c:ptCount val="6"/>
              <c:pt idx="0">
                <c:v>0.18</c:v>
              </c:pt>
              <c:pt idx="1">
                <c:v>0.32</c:v>
              </c:pt>
              <c:pt idx="2">
                <c:v>0.72</c:v>
              </c:pt>
              <c:pt idx="3">
                <c:v>0.85</c:v>
              </c:pt>
              <c:pt idx="4">
                <c:v>0.8</c:v>
              </c:pt>
              <c:pt idx="5">
                <c:v>0.34</c:v>
              </c:pt>
            </c:numLit>
          </c:val>
          <c:smooth val="0"/>
        </c:ser>
        <c:ser>
          <c:idx val="1"/>
          <c:order val="1"/>
          <c:tx>
            <c:v>NDMI</c:v>
          </c:tx>
          <c:spPr>
            <a:solidFill xmlns:a="http://schemas.openxmlformats.org/drawingml/2006/main">
              <a:srgbClr val="1C7ED6"/>
            </a:solidFill>
          </c:spPr>
          <c:marker>
            <c:symbol val="none"/>
          </c:marker>
          <c:dLbls/>
          <c:cat>
            <c:numLit>
              <c:formatCode>General</c:formatCode>
              <c:ptCount val="6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</c:numLit>
          </c:cat>
          <c:val>
            <c:numLit>
              <c:formatCode>General</c:formatCode>
              <c:ptCount val="6"/>
              <c:pt idx="0">
                <c:v>0.22</c:v>
              </c:pt>
              <c:pt idx="1">
                <c:v>0.36</c:v>
              </c:pt>
              <c:pt idx="2">
                <c:v>0.55</c:v>
              </c:pt>
              <c:pt idx="3">
                <c:v>0.5</c:v>
              </c:pt>
              <c:pt idx="4">
                <c:v>0.38</c:v>
              </c:pt>
              <c:pt idx="5">
                <c:v>0.2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1C7ED6"/>
            </a:solidFill>
          </c:spPr>
          <c:dLbls/>
          <c:cat>
            <c:strLit>
              <c:ptCount val="4"/>
              <c:pt idx="0">
                <c:v>Low crop</c:v>
              </c:pt>
              <c:pt idx="1">
                <c:v>High crop</c:v>
              </c:pt>
              <c:pt idx="2">
                <c:v>Low stage</c:v>
              </c:pt>
              <c:pt idx="3">
                <c:v>High stage</c:v>
              </c:pt>
            </c:strLit>
          </c:cat>
          <c:val>
            <c:numLit>
              <c:formatCode>General</c:formatCode>
              <c:ptCount val="4"/>
              <c:pt idx="0">
                <c:v>0.86</c:v>
              </c:pt>
              <c:pt idx="1">
                <c:v>0.61</c:v>
              </c:pt>
              <c:pt idx="2">
                <c:v>0.82</c:v>
              </c:pt>
              <c:pt idx="3">
                <c:v>0.58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B7265-DF51-4899-A53A-B4BCE3D9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Smart Satellite Crop Intelligence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E5454-CE74-4D67-922D-BC049B7D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satellite based crop classification, growth stage detection, and water deficit advisory.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178F-4E2F-4FE5-B5A3-4D7E784B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8CF75-0C00-4DE6-B4C2-A27BB5CA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62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F8BC5-922C-418F-B295-79FD667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716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crops simulated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91C6D-AA99-494D-A08B-37B1C218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587BC-4C7F-4954-93D4-B0ECF759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real satellite datasets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7B247-AF41-4430-9145-3A626AD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rPr>
              <a:t>Noise + 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FDA76-C8F8-4756-BC05-5912BD7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live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5ABEA-DEDE-448E-9B6D-2F1215F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Every observation is generated by the included simulator. Literature constrains ranges; it never supplies training 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BD060-A0CB-412F-8D18-29422D50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9FCBC-BD75-4C2F-B462-32C8448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19812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D44C4-041F-4E2B-B8F0-3812E4C1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C923D-9DDD-42B8-90D1-82E88DD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simulator is grounded in accepted crop and water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67C87-0089-47AB-9791-1AAAF679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D9262-9D36-4FA7-B2AA-62095521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52FDF-F75F-4627-A183-1C7F675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E96E0-E43A-4F58-9AAF-781198BA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7B25D-EF66-468C-ADAF-7B3BCA70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Water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2FD65-3979-45F0-8365-BBDF2134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90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Phenology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418CD-D2CB-48E5-A81A-7077FEC2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F404A-23D1-4F22-8A88-EE85AC0D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6B48C-1A9E-4252-984F-978FBECD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90-150 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90719-59BA-41CB-AE14-391DD8B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450-700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80E44-17F1-4C67-9997-B8699AE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High NDMI until ripening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B1272-32FC-44AE-BDD6-9DAEAF65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655CF-85F9-49DE-9765-6178F266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01DDA-23C4-4974-8D9B-BF175C0C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120-150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3DDEB-3BD6-4472-B84D-6AB52C7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450-650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A73BF-159B-459C-B216-E2CFD70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Fast green-up and senescence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3E45F-C7AB-40C8-BA55-BE3DFF6E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8E29D-DBE4-409E-8A37-E544C31F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Cotton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74D75-44D5-47CB-810F-10B9548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180-195 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1F350-7A96-426B-9388-38BD323F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700-1300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8455F-D20F-41A2-97AA-365F851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Lower drought 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81079-9251-4A47-9ECA-25A73F8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AEEDF-16E8-4962-AB71-C4326131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Sugarcane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388C2-6688-4B51-8E79-B47039C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624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270-365 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8EBCC-E764-4B0B-A81B-802C9BB7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1500-2500 mm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B11A8-0B11-423B-9DA9-D003BC6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Long grand-growth plateau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D9E1D-1170-48F6-B2FF-79509BD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Sources: FAO Irrigation Water Management and FAO-56 crop coefficient method.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D1A26F-CF69-43E4-8EC9-216333A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01659-C142-43B9-BE19-412D6ECA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34268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45DA8-5DC2-41FE-8812-56DC08B0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3697B-FC92-4356-ADA8-6BF6983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Satellite behavior is simulated before machine learning sees the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E1EFD-3BEE-4350-BA7F-29BFD8F7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8A695-E200-483A-8DAC-BDA4ACB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294D-D8A7-48BE-81D3-B260BDAC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NDVI rises with canopy density, peaks in active vegetation, then declines with senescence or harvest.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8D884-068E-49DD-9D4B-FF09F32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BFBB1-13E7-4941-8C76-BF7CB32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NDMI follows canopy water content and drops faster during water deficit than NDVI.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809EC-A82B-4302-8062-18C97B9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1D81-A6FB-4914-B00E-D10C2EE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Revisit cadence, Gaussian noise, random gaps, cloud gaps, and clustered missing periods create observed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1DEC9-B50C-4672-85B6-C4C9B2F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D59DB-1903-40D5-9F52-A12D9E9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596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Clean true_ndvi and true_ndmi remain hidden from training features.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23B37-06BF-44FF-B1A7-F1A8A29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61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0" y="2381250"/>
          <a:ext xmlns:a="http://schemas.openxmlformats.org/drawingml/2006/main" cx="3048000" cy="190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4b23481f834159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FBECC-F13A-4E6D-AAFF-CE4A8DC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Synthetic phenology curve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86FDE-71DE-40C6-8ADF-6D55855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AB0A6-F0A9-4186-9D2B-F17E7932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17724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CD647-FC8A-477D-A955-6DF77549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27765-9E56-4975-B8E6-B8001295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architecture separates simulation, observation, learning, and advice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F8CDA-88B3-4EC1-BE17-30EBDC5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3EC5-A9CD-4EE6-90E2-6BDA05FB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A2D26-23E8-4645-AC89-D14C6AA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rPr>
              <a:t>React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68549-66DE-403F-A4D2-0740FB9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E7533-2276-4696-9DF4-2055FD3B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527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FastAPI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8AC04-8FA1-4212-BFE4-38F41977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F2390-E445-4FBE-BA9F-BA3BDC2D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rPr>
              <a:t>Crop simulator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BE667-4615-4477-9E4C-1EC52BC2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A16BE-03B5-4525-8FB7-129F96D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99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Noise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F5722-00AF-4B52-8839-43AB025C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4FA40-8126-48C2-B666-7976267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Random Forest 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FF642-60EC-4CAD-98CB-5685EE6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3FE18-5397-44A8-A8C3-07793A2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099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rPr>
              <a:t>Water advisory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11BFD-8CAD-4734-8D69-472F4C9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5DD64-B105-4B9E-AF18-A648887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33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SQLite seasons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36268-C69D-492F-ABD4-528CB0D1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762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29044-B124-4AAE-9C21-B2765428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497EB-FD2E-428B-8CF3-FCB0EB3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21404">
            <a:off x="5143500" y="2762250"/>
            <a:ext cx="68685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7D2F6-E64E-4D4A-8F2C-C2CCE2B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336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4F5C8-8C4B-418F-81B4-1033DD3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15125" y="27622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79A99-DDA9-41D2-80D2-38CCFC87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908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AD2CB-18BD-418F-9BAA-29973924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381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DB264-F2EF-4CFB-9632-64023A02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DC0EB-7C58-4C1D-AFF2-B68342A7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36195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9067B-0493-48D6-8C7C-164A93B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03CF4-6358-49BB-9495-A943BFAD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15125" y="40005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AF88A-CE20-4776-9EC9-BE8FB864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148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0E75D-A402-4E24-B1C0-4245D442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Tech stack: React + TypeScript, Recharts, FastAPI, NumPy, pandas, scikit-learn, SQLite, Docker Compose.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0FB24-3042-4240-A392-9671F8A8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21925-DF53-4CDC-8E27-25818AD7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0817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30E9C-4043-4701-9C43-4DAE7EB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4F089-7F0B-4AAD-B8D9-CEC3D10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workflow makes uncertainty visible instead of hiding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3A85-606C-4BF2-B184-1777171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6B27B-25BF-4A24-89AF-4085AAF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1155-8072-4149-890F-32E79FB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Generate clean crop season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E9C66-4008-4A12-B2DD-3BF36F7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Planting date, duration, stage, weather, water stress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E71D9-5A89-46AF-A912-7CF7A825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686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1DA4-F68D-4DDE-B70E-725980E2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384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A8116-BD35-437C-9770-B7BD57CC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70C8-A963-4A89-BD4F-077C61E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Apply satellite imperfections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B1708-8175-480A-9AEA-6BB5AC29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Revisit schedule, noise, random cloud and clustered gaps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86066-4D81-4373-8B5B-5235F67C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686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BF022-0E87-4C6B-A798-DF22AE2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64E54-DF0B-4FC0-BFCD-ADA30A6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CEB03-5498-4E3F-8F1F-C6AE7FDD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Train on observed rows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65594-4C07-4834-A99D-27FB4624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NDVI, NDMI, time, slopes; no clean hidden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C8A8D-6341-4B1C-9DA9-B4CDF7C6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6860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19C6D-E646-4F78-A247-A0017C8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384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DC333-4121-4D14-91DC-C980CE4A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7F7C6-D1CB-46AF-A914-1311051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384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 metrics and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41F46-95E8-4606-B32C-6DDBB9C3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Confusion matrix, report, stage, stress score, 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59588-E54A-4633-B1BD-5C5ABAC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Sequence: Judge clicks Generate Season -&gt; React calls FastAPI -&gt; simulator creates phenology -&gt; noise engine masks observations -&gt; ML trains -&gt; SQLite stores -&gt; dashboard renders.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605F9-E119-41AB-82B9-7E200EA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687F0-2964-4120-AE84-D64697DD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89018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589A3-7A45-4B8C-B696-EAF6FB6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F9BD6-996A-4C9A-AECB-00AB27B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Ground truth exists, but the model never trains on clean hidden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5A95-CA3D-4B8D-881A-D4F2E9E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C7F5D-25C4-4567-8BBF-EC355C6F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E6FE4-4A83-4A3F-8A0C-887B91FA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266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SEASON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id, seed, config_json, payload_json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1C902-705E-46C0-AFFB-96FF2F51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00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2C4FD-F18A-4F61-B458-B2B4C02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71750"/>
            <a:ext cx="2743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plot_id, crop, day, observed_ndvi, observed_ndmi, stage, stress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86EB7-74DD-48AA-A9D9-2C933D0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06A12-7214-43C3-AEFE-C1696ED9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266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MODEL_RUN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target, accuracy, confusion_matrix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AFF4-C81E-41D8-B449-16934B0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000375"/>
            <a:ext cx="1495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F5170-94AD-4DD3-A36A-BC13616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FE24C-4A82-4E4F-B9AA-958DC5D5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3000375"/>
            <a:ext cx="1019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87CC3-180E-4CE8-92F6-9C28D2D5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0CFF0-4133-439E-9837-F24EC4BB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ER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A6173-BCB1-4D86-8B24-0903108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Training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410AD-71D3-4F54-8F59-C078232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07991-8022-4A0C-BAC7-F275FD4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Labels are generated automatically from simulator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83974-C008-45DB-921A-3FB587DF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CA191-0463-476E-B05F-9661BA94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Observed NDVI/NDMI are created after revisit, cloud, and noise simulation.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EAB60-3EFC-4EFF-BFCD-8E724B1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C7431-8826-4EF3-B7F6-1F084405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true_ndvi and true_ndmi are retained for audit charts, not for model features.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A6B85-93E9-4553-87F2-A58C0CC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D2440-48E5-492A-B87A-1F95424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10485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0A2E7-1701-49E3-B36B-30E894E3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08FED-61F2-468A-8654-BA99D340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Random Forest gives a strong baseline without overcomplicating the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3C4D7-7D15-4966-BB5A-BB614EA0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25D6B-1FB7-4883-AE28-7461F1E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047750" y="2476500"/>
          <a:ext xmlns:a="http://schemas.openxmlformats.org/drawingml/2006/main" cx="4095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ec5238055d49b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4840F-8E36-4C8B-904D-7BBF2F1B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Expected live behavior: accuracy falls when cloud and noise rise.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5AB45-B7F8-4352-9EC3-19C0D373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4B70A-3063-4D1E-B387-D959B98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03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classifier predicts Rice, Wheat, Cotton, or Sugarcane.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0F265-D131-467D-ACCD-F9E5443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6662C-8A64-4F65-B1E5-A9F9E59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5275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Growth stage predictor predicts Initial, Development, Mid-season, or Late-season.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A9A99-9808-4153-B384-07E5E060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B2988-0E21-4258-BC50-97721A07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052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dashboard shows confusion matrix, precision, recall, F1, and accuracy.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B84E2-EEC8-42F2-AB59-56F0B706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35EFE-720A-408A-8505-646A87D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91536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3557C-29B3-4F82-9239-8CC57DF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A291D-0DCA-413F-B8A8-D585F649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dashboard turns synthetic signals into a defensible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B9253-9225-4B8E-B1A2-39A26FC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9BE9A-5C38-4B82-949B-9F63DD1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E154A-F85D-4AE0-A06E-0CB444AE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Farmer / Judge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29F13-EF60-4C6D-A2B9-2EB21384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98D3B-3F2A-4227-A6CA-2572FB01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7ED6"/>
                </a:solidFill>
                <a:latin typeface="Helvetica Neue"/>
                <a:ea typeface="Helvetica Neue"/>
                <a:cs typeface="Helvetica Neue"/>
              </a:rPr>
              <a:t>Generate season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F898A-725F-4CB1-9E86-08B4641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5B664-53B0-41D9-A162-C08C11F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rPr>
              <a:t>Inspect crop and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2AF4D-46F8-4F6D-9C50-EBA8B791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E80A1-E101-444E-92DA-09D6EA7A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1695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Increase cloud or noise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9A59C-2BA5-4C3F-9D12-5DC11E9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C6CB5-A4F6-472E-9341-9B0486D9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Read water advisory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E3B92-AD64-41CA-B1E6-8DABEFB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9C96-F2E3-4E70-9262-46C807B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Adequate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Irrigate Soon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Irrigate Immediately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Stress Detected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30C8F-D528-4E52-877E-AD5E239C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6487">
            <a:off x="2590800" y="2600325"/>
            <a:ext cx="89883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D46A3-971A-45A5-8DA7-B27C61C8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2BF74-24CB-4B78-BA3F-F3076AFE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75824">
            <a:off x="2590800" y="2600325"/>
            <a:ext cx="93602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FC682-FCC2-4015-87D9-E13F536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847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48AE9-D663-495A-BC9D-C65B7B83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94951">
            <a:off x="2590800" y="2600325"/>
            <a:ext cx="159614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7CC75-C805-4D44-945B-FC41AD0C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338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AD0E3-E5D9-402F-B1CC-C26495B9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5171">
            <a:off x="5391150" y="3086100"/>
            <a:ext cx="135375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D0323-BFCB-48C4-95F9-435894E6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95261-732F-432D-9E04-6F414596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1432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F8E62-E62E-415A-8D52-42184BC5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95625"/>
            <a:ext cx="114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DB965-50AE-4759-850B-0D0F00D9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Advice uses current NDMI, stress score, crop, and stage. It is explicitly labeled as synthetic and not a real farm prescription.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45324-5534-4094-8B5C-31A5CD4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76C96-49BC-434D-A5FA-BFE24D36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816055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4A069-0F80-4FC0-87AA-5CF355E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F640F-3E62-4351-8180-DAEA051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live demo is built to reward scientific honesty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7CEDD-E8BB-43A3-AB73-91D283C8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64B8F-375F-4EA9-931F-6075AC5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F4EE5-20F7-400F-86C3-B515BED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Start with a clean-ish season and show high model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B11F2-BF3D-4080-9274-FF2AF96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11379-4D64-488B-BEF6-329A5B2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Increase cloud percentage and sensor noise using the visible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DEF69-244F-4188-B7EB-A56AB2B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ABA17-B7D2-47E0-9728-3D6E3813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 before/after analytics and show the expected accuracy drop.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C48D3-9F57-4256-A498-9CEE3CF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DA527-A43B-4F03-958E-3B8311F5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Explain that uncertainty is a remote-sensing feature, not a UI failure.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C3B9C-9895-45D5-91F1-8047A5C0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96433-E0D9-4813-AB20-42AC1C2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Synthetic-first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C0DA8-76DB-4A0E-91D6-C94C22F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innovation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D0B66-D25B-47F7-9C62-B1ED0F2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F9E44"/>
                </a:solidFill>
                <a:latin typeface="Helvetica Neue"/>
                <a:ea typeface="Helvetica Neue"/>
                <a:cs typeface="Helvetica Neue"/>
              </a:rPr>
              <a:t>End to 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5669-F21A-49AF-9B2C-0DB26597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technical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DB7BC-A92F-468C-8A3F-7F10C21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Judging lens: innovation, accuracy behavior, user experience, technical complexity, and presentation clarity.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379C9-0987-4424-8C84-542E79DC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0FFE0-13F6-468D-8B77-5D097302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50741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8438B-47C9-42FB-9336-CDEF56E1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SMART SATELLITE CROP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FA939-98F1-4630-A403-C968A0A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project is ready to clone, run, and extend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1B6FD-B979-4A4E-B66F-51068FDF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460AD-1304-40F7-9415-E2E23EC0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BE9D4-7C7B-4976-9A02-E7742390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Region presets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0EFA3-3F18-4223-8D7C-A12D720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Cultivar calendars, soils, irrigation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5FA52-935E-4A7E-83CC-1CF12E09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0BCC5-8370-4C7F-ADF7-2922A0B8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Spatial grids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4E531-53AD-40F2-851D-79A4AFC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337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Pixel texture and field-level heterogeneity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196AD-192C-459E-8D1E-3784DE7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05D0E-B508-4542-8850-CEBC6CB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All-weather sensing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48A28-B858-4254-B2F9-A8585929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SAR-style observations during cloudy periods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B3363-1888-4EB5-91EE-BC0AC1E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D1F42-58C7-428B-A44E-9181D322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1C4F5-1CA3-41EA-9462-677DB346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624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Confidence intervals and active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901CB-7124-4BD6-88FA-46064A3B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 takeaway: the system obeys the no-real-dataset rule while preserving the scientific logic of satellite crop monitoring.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C4162-C42E-4746-923B-77BAAC7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Synthetic data only. Research is used for parameter ranges, not as training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43BBE-79CA-48B7-B6C4-A3A88AB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6266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2026-07-04T09:31:33.3820000Z</dcterms:created>
  <dcterms:modified xsi:type="dcterms:W3CDTF">2026-07-04T09:31:33.3820000Z</dcterms:modified>
</coreProperties>
</file>